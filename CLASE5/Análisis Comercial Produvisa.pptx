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5440BC-6F13-488D-975A-E8D338AC4CA2}">
  <a:tblStyle styleId="{1F5440BC-6F13-488D-975A-E8D338AC4C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Relationship Id="rId8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901279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ANÁLISIS DE DATOS ESTRATÉGICO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49555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Desempeño Comercial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Produvisa 2025-2026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529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Evaluación trimestral de ventas, marketing y regionalidad.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18744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MÉTRICAS CLAVE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246876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Resumen Ejecutivo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Actividad Anual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0" y="433566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456426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Visión general del ciclo comercial basado en indicadores de tendencia, correlación y eficiencia operativa.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5269259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*Muestra representativa de los últimos 5 periodos.</a:t>
            </a:r>
            <a:endParaRPr/>
          </a:p>
        </p:txBody>
      </p:sp>
      <p:graphicFrame>
        <p:nvGraphicFramePr>
          <p:cNvPr id="103" name="Google Shape;103;p15"/>
          <p:cNvGraphicFramePr/>
          <p:nvPr/>
        </p:nvGraphicFramePr>
        <p:xfrm>
          <a:off x="571500" y="21736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{1F5440BC-6F13-488D-975A-E8D338AC4CA2}</a:tableStyleId>
              </a:tblPr>
              <a:tblGrid>
                <a:gridCol w="2254900"/>
                <a:gridCol w="1521925"/>
                <a:gridCol w="2099825"/>
                <a:gridCol w="3015850"/>
                <a:gridCol w="2156525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Ventas (USD)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Inv. Marketing (USD)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ROI Eficiencia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Octubre 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Occidente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$505,000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$19,000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26.6x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Noviembre 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Oriente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$680,000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$35,000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19.4x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Diciembre 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Centro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$850,000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17.0x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Enero 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Occidente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$410,000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$12,000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34.1x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Febrero 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Oriente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$440,000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$13,500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32.5x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" name="Google Shape;104;p15"/>
          <p:cNvSpPr/>
          <p:nvPr/>
        </p:nvSpPr>
        <p:spPr>
          <a:xfrm>
            <a:off x="571500" y="2668934"/>
            <a:ext cx="225489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2826394" y="2668934"/>
            <a:ext cx="152191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4348311" y="2668934"/>
            <a:ext cx="209981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6448127" y="2668934"/>
            <a:ext cx="301585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9463980" y="2668934"/>
            <a:ext cx="215651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71500" y="3149947"/>
            <a:ext cx="225489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2826394" y="3149947"/>
            <a:ext cx="15219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348311" y="3149947"/>
            <a:ext cx="20998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448127" y="3149947"/>
            <a:ext cx="301585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9463980" y="3149947"/>
            <a:ext cx="21565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71500" y="3616672"/>
            <a:ext cx="225489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2826394" y="3616672"/>
            <a:ext cx="15219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348311" y="3616672"/>
            <a:ext cx="20998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448127" y="3616672"/>
            <a:ext cx="301585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9463980" y="3616672"/>
            <a:ext cx="21565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71500" y="4083397"/>
            <a:ext cx="225489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2826394" y="4083397"/>
            <a:ext cx="15219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4348311" y="4083397"/>
            <a:ext cx="20998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448127" y="4083397"/>
            <a:ext cx="301585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9463980" y="4083397"/>
            <a:ext cx="21565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71500" y="4550122"/>
            <a:ext cx="225489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826394" y="4550122"/>
            <a:ext cx="15219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348311" y="4550122"/>
            <a:ext cx="20998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448127" y="4550122"/>
            <a:ext cx="301585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9463980" y="4550122"/>
            <a:ext cx="21565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5016847"/>
            <a:ext cx="225489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2826394" y="5016847"/>
            <a:ext cx="15219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4348311" y="5016847"/>
            <a:ext cx="20998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448127" y="5016847"/>
            <a:ext cx="301585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9463980" y="5016847"/>
            <a:ext cx="21565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Histórico de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Actividad Mensual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50101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Marzo 2025JunioSeptiembreDiciembre (Pico)Febrero 2026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5457825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 observa una trayectoria ascendente culminando en un pico exponencial en el Q4, seguido de un reajuste estacional en el Q1 de 2026.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5457825"/>
            <a:ext cx="38100" cy="609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Tendencia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Principal de Crecimiento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008757"/>
            <a:ext cx="11049000" cy="572631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519975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Coeficiente de Correlación: </a:t>
            </a:r>
            <a:r>
              <a:rPr b="0" i="0" lang="en-US" sz="165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0.9947 (Muy Fuerte)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593496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inversión en mercadeo es el driver principal del volumen de ventas; el mercado responde con elasticidad directa a las campañas.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122932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Correlación: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Inversión vs Ventas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571500" y="18744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SEGMENTACIÓN GEOGRÁFICA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295275" y="246876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Dinámicas Regionales 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Estacionalidad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715000" y="433566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2286000" y="456426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Evaluación del comportamiento de consumo según la zona de impacto y los periodos del año.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8875"/>
            <a:ext cx="52387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28875"/>
            <a:ext cx="523875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885825" y="3333750"/>
            <a:ext cx="215026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Temporada Alta (Q4)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85825" y="3895725"/>
            <a:ext cx="4610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Noviembre y Diciembre representan el 24% de las ventas anuales. Coincide con festividades y mayor flujo de capital en el mercado.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696075" y="3333750"/>
            <a:ext cx="23902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Periodo de Reajuste (Q1)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696075" y="3895725"/>
            <a:ext cx="4610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Enero y Febrero muestran una contracción técnica natural. Es vital optimizar la inversión para mantener la visibilidad sin desperdiciar recursos.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825" y="28003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96075" y="280035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Análisis de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Ciclos de Consumo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0762"/>
            <a:ext cx="353050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600" y="2290762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850" y="2290762"/>
            <a:ext cx="353050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885825" y="3167062"/>
            <a:ext cx="13701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Región Centro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85825" y="3729037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Epicentro de volumen masivo. Domina el cierre de año con el 100% de la carga de ventas récord en Diciembre.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4644925" y="3167062"/>
            <a:ext cx="14501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Región Oriente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644925" y="372903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Zona de alta eficiencia. Mostró el mejor ROI relativo durante el tercer trimestre de 2025.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404175" y="3167062"/>
            <a:ext cx="17302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Región Occidente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404175" y="3729037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Desempeño estable. Encargada de sostener la base comercial durante los meses de valle (Enero).</a:t>
            </a:r>
            <a:endParaRPr/>
          </a:p>
        </p:txBody>
      </p:sp>
      <p:pic>
        <p:nvPicPr>
          <p:cNvPr descr="image.png" id="190" name="Google Shape;19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263366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26336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4175" y="263366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Impacto por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Zona Geográfica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71500" y="2570857"/>
            <a:ext cx="53625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$850k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4380607"/>
            <a:ext cx="53625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Diciembre 2025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696075" y="2450306"/>
            <a:ext cx="51706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 Hito Operativo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696075" y="2859881"/>
            <a:ext cx="49244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Este valor se identifica como una anomalía estadística positiva (Outlier superior). Superó el promedio mensual en un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75%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696075" y="4493418"/>
            <a:ext cx="4924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inversión récord de $50k fue el catalizador de este resultado histórico.</a:t>
            </a:r>
            <a:endParaRPr/>
          </a:p>
        </p:txBody>
      </p:sp>
      <p:pic>
        <p:nvPicPr>
          <p:cNvPr descr="image.png" id="204" name="Google Shape;2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2095" y="3964781"/>
            <a:ext cx="1932384" cy="33813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Anomalía de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Alto Desempeño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571500"/>
            <a:ext cx="58007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Eficiencia en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Oriente</a:t>
            </a:r>
            <a:endParaRPr/>
          </a:p>
        </p:txBody>
      </p:sp>
      <p:pic>
        <p:nvPicPr>
          <p:cNvPr descr="image.png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571500" y="2771775"/>
            <a:ext cx="5800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Optimización en Agosto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3181350"/>
            <a:ext cx="552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 una inversión moderada de $25k, se logró un volumen de ventas de $590k. Esta es la eficiencia más alta del Q3.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4171950"/>
            <a:ext cx="552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Recomendamos replicar la estrategia de segmentación de Oriente en las demás regiones para el próximo ciclo fiscal.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69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1000125" y="1719857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Sostener Presupuesto en Q4: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 alta elasticidad del mercado exige mantener la inversión alta en fin de año.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1000125" y="2963465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Mitigación en Enero: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Implementar promociones agresivas para evitar caídas por debajo de los $450k.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000125" y="4207073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Estrategia Oriente: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Auditar y exportar el modelo de eficiencia de Oriente a Occidente y Centro.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1000125" y="5115520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Forecast Continuo: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Monitoreo mensual para ajustar inversión según tendencias regionales.</a:t>
            </a:r>
            <a:endParaRPr/>
          </a:p>
        </p:txBody>
      </p:sp>
      <p:pic>
        <p:nvPicPr>
          <p:cNvPr descr="image.png" id="226" name="Google Shape;22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76437"/>
            <a:ext cx="52197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7674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01109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25469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16314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Hoja de Ruta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Estratégica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2462" y="5302448"/>
            <a:ext cx="326707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571500" y="116487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CONCLUSIÓN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295275" y="1759148"/>
            <a:ext cx="1160145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¿Preguntas o </a:t>
            </a:r>
            <a:r>
              <a:rPr b="1" i="0" lang="en-US" sz="7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Comentarios?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71500" y="404514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Gracias por su atención. El análisis completo está disponible en el repositorio central.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/>
          <p:nvPr/>
        </p:nvSpPr>
        <p:spPr>
          <a:xfrm>
            <a:off x="571500" y="299278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37680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37680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422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1666875" y="313565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https://img.freepik.com/premium-vector/business-growth-infographic-map-ghana_1211457-4154.jpg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1666875" y="338137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descr="image.png" id="252" name="Google Shape;25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260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1666875" y="392043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https://img.freepik.com/premium-photo/businessman-presenting-data-analysis-dashboard-display-tv-screen-modern-meeting-marketing-strategy-business-presentation-with-group-business-people-conference-room-concord_31965-253058.jpg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1666875" y="436423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